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352190" y="457200"/>
            <a:ext cx="5486400" cy="5486400"/>
          </a:xfrm>
          <a:prstGeom prst="ellipse">
            <a:avLst/>
          </a:prstGeom>
          <a:solidFill>
            <a:srgbClr val="10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990" y="1188720"/>
            <a:ext cx="1828800" cy="1828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20040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EF4444"/>
                </a:solidFill>
                <a:latin typeface="Trebuchet MS"/>
              </a:defRPr>
            </a:pPr>
            <a:r>
              <a:t>RoadSoS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FFFFFF"/>
                </a:solidFill>
                <a:latin typeface="Trebuchet MS"/>
              </a:defRPr>
            </a:pPr>
            <a:r>
              <a:t>The Ultimate Offline-First Emergency Network</a:t>
            </a:r>
          </a:p>
          <a:p>
            <a:pPr algn="ctr">
              <a:spcBef>
                <a:spcPts val="800"/>
              </a:spcBef>
              <a:defRPr sz="1100" b="1">
                <a:solidFill>
                  <a:srgbClr val="94A3B8"/>
                </a:solidFill>
                <a:latin typeface="Trebuchet MS"/>
              </a:defRPr>
            </a:pPr>
            <a:r>
              <a:t>EMPOWERING ACCIDENT VICTIMS &amp; BYSTANDERS DURING THE GOLDEN HOUR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57784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EF4444"/>
                </a:solidFill>
                <a:latin typeface="Trebuchet MS"/>
              </a:defRPr>
            </a:pPr>
            <a:r>
              <a:t>NATIONAL ROAD SAFETY HACKATHON 2026  |  TEAM ROADSOS INNOVATORS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1645920" cy="32004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Trebuchet MS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Trebuchet MS"/>
              </a:defRPr>
            </a:pPr>
            <a:r>
              <a:t>Golden Hour Delays Cost Lives on Highways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698480" cy="2743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200">
                <a:solidFill>
                  <a:srgbClr val="FFFFFF"/>
                </a:solidFill>
                <a:latin typeface="Trebuchet MS"/>
              </a:defRPr>
            </a:pPr>
            <a:r>
              <a:t>Highway emergency response rates are critical. Survival rates drop by 60% for every 10-minute delay during the 'Golden Hour' (first 60 mins):</a:t>
            </a:r>
          </a:p>
          <a:p>
            <a:pPr>
              <a:spcBef>
                <a:spcPts val="1000"/>
              </a:spcBef>
              <a:defRPr sz="1400">
                <a:solidFill>
                  <a:srgbClr val="94A3B8"/>
                </a:solidFill>
                <a:latin typeface="Trebuchet MS"/>
              </a:defRPr>
            </a:pPr>
            <a:r>
              <a:t>Traditional calling applications, medical guidance databases, and maps depend heavily on stable high-speed cellular networks. On critical highway segments, this reliance introduces single-points-of-failure.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828800"/>
            <a:ext cx="5394960" cy="1920240"/>
          </a:xfrm>
          <a:prstGeom prst="roundRect">
            <a:avLst/>
          </a:prstGeom>
          <a:solidFill>
            <a:srgbClr val="131C30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0" y="192024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F4444"/>
                </a:solidFill>
                <a:latin typeface="Trebuchet MS"/>
              </a:defRPr>
            </a:pPr>
            <a:r>
              <a:t>📶 Cellular Dead Zones (OSM Data)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Trebuchet MS"/>
              </a:defRPr>
            </a:pPr>
            <a:r>
              <a:t>Over 40% of national highway corridors pass through cellular coverage gaps or dead zones. Standard API-based apps (like Google Maps or Uber) stall immediately with zero bars of signal.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4114800"/>
            <a:ext cx="5394960" cy="1920240"/>
          </a:xfrm>
          <a:prstGeom prst="roundRect">
            <a:avLst/>
          </a:prstGeom>
          <a:solidFill>
            <a:srgbClr val="131C30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420624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F4444"/>
                </a:solidFill>
                <a:latin typeface="Trebuchet MS"/>
              </a:defRPr>
            </a:pPr>
            <a:r>
              <a:t>🧠 Victim Trauma &amp; Bystander Panic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Trebuchet MS"/>
              </a:defRPr>
            </a:pPr>
            <a:r>
              <a:t>Victims suffer physical shock, limiting phone interaction. Bystanders, driven by panic, fail to communicate GPS coordinate metrics or recall regional emergency helpline directories.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1645920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Trebuchet MS"/>
              </a:defRPr>
            </a:pPr>
            <a: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Trebuchet MS"/>
              </a:defRPr>
            </a:pPr>
            <a:r>
              <a:t>Autonomous, Offline-First Rescue Ecosystem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698480" cy="274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 b="1">
                <a:solidFill>
                  <a:srgbClr val="FFFFFF"/>
                </a:solidFill>
                <a:latin typeface="Trebuchet MS"/>
              </a:defRPr>
            </a:pPr>
            <a:r>
              <a:t>RoadSoS is an offline-first PWA that bypasses cellular dependence to ensure continuous safety backup:</a:t>
            </a:r>
          </a:p>
          <a:p>
            <a:pPr>
              <a:spcBef>
                <a:spcPts val="1000"/>
              </a:spcBef>
              <a:defRPr sz="1700" b="1">
                <a:solidFill>
                  <a:srgbClr val="10B981"/>
                </a:solidFill>
                <a:latin typeface="Trebuchet MS"/>
              </a:defRPr>
            </a:pPr>
            <a:r>
              <a:t>🌐 IndexedDB Spatial Caching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Trebuchet MS"/>
              </a:defRPr>
            </a:pPr>
            <a:r>
              <a:t>Uses Dexie.js to store over 1,500+ regional hospital coordinates, pharmacy locations, and local police helpline directories on client storage. Geolocation signals map directions offline.</a:t>
            </a:r>
          </a:p>
          <a:p>
            <a:pPr>
              <a:spcBef>
                <a:spcPts val="1000"/>
              </a:spcBef>
              <a:defRPr sz="1700" b="1">
                <a:solidFill>
                  <a:srgbClr val="10B981"/>
                </a:solidFill>
                <a:latin typeface="Trebuchet MS"/>
              </a:defRPr>
            </a:pPr>
            <a:r>
              <a:t>📱 Zero Installation Footprint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Trebuchet MS"/>
              </a:defRPr>
            </a:pPr>
            <a:r>
              <a:t>Progressive Web App (PWA) boot speeds complete in &lt;1.5 seconds. Instantly accessible via SMS web links or vehicle QR code stickers without app store downloads.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09560" y="1645920"/>
            <a:ext cx="2377440" cy="4572000"/>
          </a:xfrm>
          <a:prstGeom prst="roundRect">
            <a:avLst/>
          </a:prstGeom>
          <a:solidFill>
            <a:srgbClr val="0F0F14"/>
          </a:solidFill>
          <a:ln w="317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823960" y="1755648"/>
            <a:ext cx="548640" cy="73152"/>
          </a:xfrm>
          <a:prstGeom prst="roundRect">
            <a:avLst/>
          </a:prstGeom>
          <a:solidFill>
            <a:srgbClr val="282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732520" y="6080760"/>
            <a:ext cx="731520" cy="36576"/>
          </a:xfrm>
          <a:prstGeom prst="rect">
            <a:avLst/>
          </a:prstGeom>
          <a:solidFill>
            <a:srgbClr val="787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pp_m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2712" y="1920240"/>
            <a:ext cx="2231136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1645920" cy="3200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Trebuchet MS"/>
              </a:defRPr>
            </a:pPr>
            <a:r>
              <a:t>CORE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Trebuchet MS"/>
              </a:defRPr>
            </a:pPr>
            <a:r>
              <a:t>Hardware SOS Blackbox &amp; AI Safety Copilot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698480" cy="274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852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Dual-Shield Safety Protocols</a:t>
            </a:r>
          </a:p>
          <a:p>
            <a:pPr>
              <a:defRPr sz="1300">
                <a:solidFill>
                  <a:srgbClr val="94A3B8"/>
                </a:solidFill>
                <a:latin typeface="Trebuchet MS"/>
              </a:defRPr>
            </a:pPr>
            <a:r>
              <a:t>Combines real-time proactive driver speed safety alerts with autonomous reactive triggers: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2834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500" b="1">
                <a:solidFill>
                  <a:srgbClr val="3B82F6"/>
                </a:solidFill>
                <a:latin typeface="Trebuchet MS"/>
              </a:defRPr>
            </a:pPr>
            <a:r>
              <a:t>🔊 Audio Siren wave</a:t>
            </a:r>
          </a:p>
          <a:p>
            <a:pPr>
              <a:spcBef>
                <a:spcPts val="200"/>
              </a:spcBef>
              <a:defRPr sz="1200">
                <a:solidFill>
                  <a:srgbClr val="94A3B8"/>
                </a:solidFill>
                <a:latin typeface="Trebuchet MS"/>
              </a:defRPr>
            </a:pPr>
            <a:r>
              <a:t>Generates raw 440Hz sawtooth frequencies using Web Audio API to alert nearby rescuers in dark conditions.</a:t>
            </a:r>
          </a:p>
          <a:p>
            <a:pPr>
              <a:spcBef>
                <a:spcPts val="1000"/>
              </a:spcBef>
              <a:defRPr sz="1500" b="1">
                <a:solidFill>
                  <a:srgbClr val="3B82F6"/>
                </a:solidFill>
                <a:latin typeface="Trebuchet MS"/>
              </a:defRPr>
            </a:pPr>
            <a:r>
              <a:t>🎙️ Forensic Recorder</a:t>
            </a:r>
          </a:p>
          <a:p>
            <a:pPr>
              <a:spcBef>
                <a:spcPts val="200"/>
              </a:spcBef>
              <a:defRPr sz="1200">
                <a:solidFill>
                  <a:srgbClr val="94A3B8"/>
                </a:solidFill>
                <a:latin typeface="Trebuchet MS"/>
              </a:defRPr>
            </a:pPr>
            <a:r>
              <a:t>Local MediaRecorder saves 15 seconds of accident audio logs directly to browser indexed storage.</a:t>
            </a:r>
          </a:p>
          <a:p>
            <a:pPr>
              <a:spcBef>
                <a:spcPts val="1000"/>
              </a:spcBef>
              <a:defRPr sz="1500" b="1">
                <a:solidFill>
                  <a:srgbClr val="3B82F6"/>
                </a:solidFill>
                <a:latin typeface="Trebuchet MS"/>
              </a:defRPr>
            </a:pPr>
            <a:r>
              <a:t>📳 Impact Shake Detect</a:t>
            </a:r>
          </a:p>
          <a:p>
            <a:pPr>
              <a:spcBef>
                <a:spcPts val="200"/>
              </a:spcBef>
              <a:defRPr sz="1200">
                <a:solidFill>
                  <a:srgbClr val="94A3B8"/>
                </a:solidFill>
                <a:latin typeface="Trebuchet MS"/>
              </a:defRPr>
            </a:pPr>
            <a:r>
              <a:t>Uses device accelerometer filters to detect structural G-force and auto-dial 112 emergency numbers.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2377440"/>
            <a:ext cx="2834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500" b="1">
                <a:solidFill>
                  <a:srgbClr val="3B82F6"/>
                </a:solidFill>
                <a:latin typeface="Trebuchet MS"/>
              </a:defRPr>
            </a:pPr>
            <a:r>
              <a:t>⚡ GPS Speed Monitor</a:t>
            </a:r>
          </a:p>
          <a:p>
            <a:pPr>
              <a:spcBef>
                <a:spcPts val="200"/>
              </a:spcBef>
              <a:defRPr sz="1200">
                <a:solidFill>
                  <a:srgbClr val="94A3B8"/>
                </a:solidFill>
                <a:latin typeface="Trebuchet MS"/>
              </a:defRPr>
            </a:pPr>
            <a:r>
              <a:t>Watches speed velocity via Geolocation API, flashing warning lights and alert buzzers to check limits.</a:t>
            </a:r>
          </a:p>
          <a:p>
            <a:pPr>
              <a:spcBef>
                <a:spcPts val="1000"/>
              </a:spcBef>
              <a:defRPr sz="1500" b="1">
                <a:solidFill>
                  <a:srgbClr val="3B82F6"/>
                </a:solidFill>
                <a:latin typeface="Trebuchet MS"/>
              </a:defRPr>
            </a:pPr>
            <a:r>
              <a:t>📝 Report Generator</a:t>
            </a:r>
          </a:p>
          <a:p>
            <a:pPr>
              <a:spcBef>
                <a:spcPts val="200"/>
              </a:spcBef>
              <a:defRPr sz="1200">
                <a:solidFill>
                  <a:srgbClr val="94A3B8"/>
                </a:solidFill>
                <a:latin typeface="Trebuchet MS"/>
              </a:defRPr>
            </a:pPr>
            <a:r>
              <a:t>Instantly packs lat/lng coordinates, address descriptors, and audio links into text reports.</a:t>
            </a:r>
          </a:p>
          <a:p>
            <a:pPr>
              <a:spcBef>
                <a:spcPts val="1000"/>
              </a:spcBef>
              <a:defRPr sz="1500" b="1">
                <a:solidFill>
                  <a:srgbClr val="3B82F6"/>
                </a:solidFill>
                <a:latin typeface="Trebuchet MS"/>
              </a:defRPr>
            </a:pPr>
            <a:r>
              <a:t>📍 Hotspot Map Alerts</a:t>
            </a:r>
          </a:p>
          <a:p>
            <a:pPr>
              <a:spcBef>
                <a:spcPts val="200"/>
              </a:spcBef>
              <a:defRPr sz="1200">
                <a:solidFill>
                  <a:srgbClr val="94A3B8"/>
                </a:solidFill>
                <a:latin typeface="Trebuchet MS"/>
              </a:defRPr>
            </a:pPr>
            <a:r>
              <a:t>Pre-loads accident-prone blackspot coordinates, warning driver upon zone entry offline.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09560" y="1645920"/>
            <a:ext cx="2377440" cy="4572000"/>
          </a:xfrm>
          <a:prstGeom prst="roundRect">
            <a:avLst/>
          </a:prstGeom>
          <a:solidFill>
            <a:srgbClr val="0F0F14"/>
          </a:solidFill>
          <a:ln w="317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823960" y="1755648"/>
            <a:ext cx="548640" cy="73152"/>
          </a:xfrm>
          <a:prstGeom prst="roundRect">
            <a:avLst/>
          </a:prstGeom>
          <a:solidFill>
            <a:srgbClr val="282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732520" y="6080760"/>
            <a:ext cx="731520" cy="36576"/>
          </a:xfrm>
          <a:prstGeom prst="rect">
            <a:avLst/>
          </a:prstGeom>
          <a:solidFill>
            <a:srgbClr val="787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i_m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2712" y="1920240"/>
            <a:ext cx="2231136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1645920" cy="3200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Trebuchet MS"/>
              </a:defRPr>
            </a:pPr>
            <a:r>
              <a:t>TECHNICAL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Trebuchet MS"/>
              </a:defRPr>
            </a:pPr>
            <a:r>
              <a:t>Resilient System Architecture Layers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698480" cy="2743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91840" cy="4206240"/>
          </a:xfrm>
          <a:prstGeom prst="roundRect">
            <a:avLst/>
          </a:prstGeom>
          <a:solidFill>
            <a:srgbClr val="131C30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3291840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28346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50" b="1">
                <a:solidFill>
                  <a:srgbClr val="8B5CF6"/>
                </a:solidFill>
                <a:latin typeface="Trebuchet MS"/>
              </a:defRPr>
            </a:pPr>
            <a:r>
              <a:t>1. Client Frontend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2560320"/>
            <a:ext cx="2834640" cy="18288"/>
          </a:xfrm>
          <a:prstGeom prst="rect">
            <a:avLst/>
          </a:prstGeom>
          <a:solidFill>
            <a:srgbClr val="26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697480"/>
            <a:ext cx="283464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Trebuchet MS"/>
              </a:defRPr>
            </a:pPr>
            <a:r>
              <a:t>• React + Vite Framework: Single Page Application layout boots in milliseconds.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Trebuchet MS"/>
              </a:defRPr>
            </a:pPr>
            <a:r>
              <a:t>• Tailwind CSS: Dark-mode interface optimized for outdoor high-glare and night emergency visibility.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Trebuchet MS"/>
              </a:defRPr>
            </a:pPr>
            <a:r>
              <a:t>• Leaflet.js Mapping: Implements canvas-based offline tile render hooks.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828800"/>
            <a:ext cx="3291840" cy="4206240"/>
          </a:xfrm>
          <a:prstGeom prst="roundRect">
            <a:avLst/>
          </a:prstGeom>
          <a:solidFill>
            <a:srgbClr val="131C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828800"/>
            <a:ext cx="3291840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011680"/>
            <a:ext cx="28346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50" b="1">
                <a:solidFill>
                  <a:srgbClr val="10B981"/>
                </a:solidFill>
                <a:latin typeface="Trebuchet MS"/>
              </a:defRPr>
            </a:pPr>
            <a:r>
              <a:t>2. Offline Guard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2560320"/>
            <a:ext cx="2834640" cy="18288"/>
          </a:xfrm>
          <a:prstGeom prst="rect">
            <a:avLst/>
          </a:prstGeom>
          <a:solidFill>
            <a:srgbClr val="26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2697480"/>
            <a:ext cx="283464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Trebuchet MS"/>
              </a:defRPr>
            </a:pPr>
            <a:r>
              <a:t>• PWA Service Worker: Caches main application shell and scripts via Workbox.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Trebuchet MS"/>
              </a:defRPr>
            </a:pPr>
            <a:r>
              <a:t>• IndexedDB Database: Handles regional hospital listings, police caches, and map files local queries.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Trebuchet MS"/>
              </a:defRPr>
            </a:pPr>
            <a:r>
              <a:t>• Local Rule-Engine: Chatbot runs on-device rule matching for first-aid without internet.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828800"/>
            <a:ext cx="3291840" cy="4206240"/>
          </a:xfrm>
          <a:prstGeom prst="roundRect">
            <a:avLst/>
          </a:prstGeom>
          <a:solidFill>
            <a:srgbClr val="131C30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828800"/>
            <a:ext cx="3291840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2011680"/>
            <a:ext cx="28346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50" b="1">
                <a:solidFill>
                  <a:srgbClr val="3B82F6"/>
                </a:solidFill>
                <a:latin typeface="Trebuchet MS"/>
              </a:defRPr>
            </a:pPr>
            <a:r>
              <a:t>3. Integration APIs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66760" y="2560320"/>
            <a:ext cx="2834640" cy="18288"/>
          </a:xfrm>
          <a:prstGeom prst="rect">
            <a:avLst/>
          </a:prstGeom>
          <a:solidFill>
            <a:srgbClr val="26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2697480"/>
            <a:ext cx="283464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Trebuchet MS"/>
              </a:defRPr>
            </a:pPr>
            <a:r>
              <a:t>• OpenStreetMap API: Fetches raw public spatial data for emergency services.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Trebuchet MS"/>
              </a:defRPr>
            </a:pPr>
            <a:r>
              <a:t>• Claude LLM: Parses complex symptoms and multilingual questions when online.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Trebuchet MS"/>
              </a:defRPr>
            </a:pPr>
            <a:r>
              <a:t>• Hardware Sensor APIs: Binds Accelerometer, AudioContext, and Media Recording tools.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1645920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Trebuchet MS"/>
              </a:defRPr>
            </a:pPr>
            <a:r>
              <a:t>THE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Trebuchet MS"/>
              </a:defRPr>
            </a:pPr>
            <a:r>
              <a:t>Scalable, Zero Cost, Lifesaving Platform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698480" cy="274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91840" cy="4206240"/>
          </a:xfrm>
          <a:prstGeom prst="roundRect">
            <a:avLst/>
          </a:prstGeom>
          <a:solidFill>
            <a:srgbClr val="131C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3291840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063240" y="2057400"/>
            <a:ext cx="731520" cy="731520"/>
          </a:xfrm>
          <a:prstGeom prst="ellipse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10B981"/>
                </a:solidFill>
                <a:latin typeface="Trebuchet M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57400"/>
            <a:ext cx="21031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4400" b="1">
                <a:solidFill>
                  <a:srgbClr val="10B981"/>
                </a:solidFill>
                <a:latin typeface="Trebuchet MS"/>
              </a:defRPr>
            </a:pPr>
            <a:r>
              <a:t>$0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20" y="2926080"/>
            <a:ext cx="2834640" cy="18288"/>
          </a:xfrm>
          <a:prstGeom prst="rect">
            <a:avLst/>
          </a:prstGeom>
          <a:solidFill>
            <a:srgbClr val="26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06324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Trebuchet MS"/>
              </a:defRPr>
            </a:pPr>
            <a:r>
              <a:t>Map API Licensing Fees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474720"/>
            <a:ext cx="283464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defRPr sz="1100">
                <a:solidFill>
                  <a:srgbClr val="94A3B8"/>
                </a:solidFill>
                <a:latin typeface="Trebuchet MS"/>
              </a:defRPr>
            </a:pPr>
            <a:r>
              <a:t>Commercial maps cost $7 per 1,000 lookups. RoadSoS leverages free OpenStreetMap datasets and local cache indexing. This design eliminates runtime overheads, allowing global scaling at zero platform fees.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828800"/>
            <a:ext cx="3291840" cy="4206240"/>
          </a:xfrm>
          <a:prstGeom prst="roundRect">
            <a:avLst/>
          </a:prstGeom>
          <a:solidFill>
            <a:srgbClr val="131C30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828800"/>
            <a:ext cx="3291840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66560" y="2057400"/>
            <a:ext cx="731520" cy="731520"/>
          </a:xfrm>
          <a:prstGeom prst="ellipse">
            <a:avLst/>
          </a:prstGeom>
          <a:solidFill>
            <a:srgbClr val="0F172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3B82F6"/>
                </a:solidFill>
                <a:latin typeface="Trebuchet M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057400"/>
            <a:ext cx="21031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4400" b="1">
                <a:solidFill>
                  <a:srgbClr val="3B82F6"/>
                </a:solidFill>
                <a:latin typeface="Trebuchet MS"/>
              </a:defRPr>
            </a:pPr>
            <a:r>
              <a:t>100%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63440" y="2926080"/>
            <a:ext cx="2834640" cy="18288"/>
          </a:xfrm>
          <a:prstGeom prst="rect">
            <a:avLst/>
          </a:prstGeom>
          <a:solidFill>
            <a:srgbClr val="26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306324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Trebuchet MS"/>
              </a:defRPr>
            </a:pPr>
            <a:r>
              <a:t>Universal Location Coding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474720"/>
            <a:ext cx="283464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defRPr sz="1100">
                <a:solidFill>
                  <a:srgbClr val="94A3B8"/>
                </a:solidFill>
                <a:latin typeface="Trebuchet MS"/>
              </a:defRPr>
            </a:pPr>
            <a:r>
              <a:t>OSM maps cover all roads, toll plazas, and emergency centers globally. The app matches coordinate boundaries locally in any country (e.g. India, EU, US), updating emergency contact numbers dynamically.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1828800"/>
            <a:ext cx="3291840" cy="4206240"/>
          </a:xfrm>
          <a:prstGeom prst="roundRect">
            <a:avLst/>
          </a:prstGeom>
          <a:solidFill>
            <a:srgbClr val="131C30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38160" y="1828800"/>
            <a:ext cx="3291840" cy="10972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469880" y="2057400"/>
            <a:ext cx="731520" cy="731520"/>
          </a:xfrm>
          <a:prstGeom prst="ellipse">
            <a:avLst/>
          </a:prstGeom>
          <a:solidFill>
            <a:srgbClr val="0F172A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EF4444"/>
                </a:solidFill>
                <a:latin typeface="Trebuchet MS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2057400"/>
            <a:ext cx="21031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4400" b="1">
                <a:solidFill>
                  <a:srgbClr val="EF4444"/>
                </a:solidFill>
                <a:latin typeface="Trebuchet MS"/>
              </a:defRPr>
            </a:pPr>
            <a:r>
              <a:t>Instant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66760" y="2926080"/>
            <a:ext cx="2834640" cy="18288"/>
          </a:xfrm>
          <a:prstGeom prst="rect">
            <a:avLst/>
          </a:prstGeom>
          <a:solidFill>
            <a:srgbClr val="26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66760" y="306324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Trebuchet MS"/>
              </a:defRPr>
            </a:pPr>
            <a:r>
              <a:t>Offline Zero-Bar Access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3474720"/>
            <a:ext cx="283464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defRPr sz="1100">
                <a:solidFill>
                  <a:srgbClr val="94A3B8"/>
                </a:solidFill>
                <a:latin typeface="Trebuchet MS"/>
              </a:defRPr>
            </a:pPr>
            <a:r>
              <a:t>In trauma situations, installation delays lead to negative outcomes. PWA formats boot directly in mobile browsers. Essential siren systems, GPS alerts, and first-aid run with zero network active.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352190" y="1371600"/>
            <a:ext cx="5486400" cy="4114800"/>
          </a:xfrm>
          <a:prstGeom prst="ellipse">
            <a:avLst/>
          </a:prstGeom>
          <a:solidFill>
            <a:srgbClr val="10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  <a:latin typeface="Trebuchet MS"/>
              </a:defRPr>
            </a:pPr>
            <a:r>
              <a:t>Thank You!</a:t>
            </a:r>
          </a:p>
          <a:p>
            <a:pPr algn="ctr">
              <a:spcBef>
                <a:spcPts val="800"/>
              </a:spcBef>
              <a:defRPr sz="2000">
                <a:solidFill>
                  <a:srgbClr val="94A3B8"/>
                </a:solidFill>
                <a:latin typeface="Trebuchet MS"/>
              </a:defRPr>
            </a:pPr>
            <a:r>
              <a:t>Let's make our highways safer, together.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52190" y="3291840"/>
            <a:ext cx="5486400" cy="2011680"/>
          </a:xfrm>
          <a:prstGeom prst="roundRect">
            <a:avLst/>
          </a:prstGeom>
          <a:solidFill>
            <a:srgbClr val="131C30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43630" y="338328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F4444"/>
                </a:solidFill>
                <a:latin typeface="Trebuchet MS"/>
              </a:defRPr>
            </a:pPr>
            <a:r>
              <a:t>📱 Try RoadSoS Live Demo</a:t>
            </a:r>
          </a:p>
          <a:p>
            <a:pPr algn="ctr">
              <a:spcBef>
                <a:spcPts val="600"/>
              </a:spcBef>
              <a:defRPr sz="1300">
                <a:solidFill>
                  <a:srgbClr val="94A3B8"/>
                </a:solidFill>
                <a:latin typeface="Trebuchet MS"/>
              </a:defRPr>
            </a:pPr>
            <a:r>
              <a:t>Instant loading, offline cached PWA ready for tests.</a:t>
            </a:r>
          </a:p>
          <a:p>
            <a:pPr algn="ctr">
              <a:spcBef>
                <a:spcPts val="1000"/>
              </a:spcBef>
              <a:defRPr sz="1400" b="1">
                <a:solidFill>
                  <a:srgbClr val="FFFFFF"/>
                </a:solidFill>
                <a:latin typeface="Trebuchet MS"/>
              </a:defRPr>
            </a:pPr>
            <a:r>
              <a:t>LIVE REPOSITORY: github.com/TeamRoadSoS/app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