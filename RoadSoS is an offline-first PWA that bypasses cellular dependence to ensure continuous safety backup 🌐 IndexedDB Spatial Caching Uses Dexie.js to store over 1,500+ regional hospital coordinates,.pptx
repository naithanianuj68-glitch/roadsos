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rebuchet MS Bold" charset="1" panose="020B0703020202020204"/>
      <p:regular r:id="rId13"/>
    </p:embeddedFont>
    <p:embeddedFont>
      <p:font typeface="Trebuchet MS" charset="1" panose="020B0603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2410" y="686333"/>
            <a:ext cx="8236572" cy="8236039"/>
            <a:chOff x="0" y="0"/>
            <a:chExt cx="10982096" cy="109813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8" y="317"/>
              <a:ext cx="10981912" cy="10981150"/>
            </a:xfrm>
            <a:custGeom>
              <a:avLst/>
              <a:gdLst/>
              <a:ahLst/>
              <a:cxnLst/>
              <a:rect r="r" b="b" t="t" l="l"/>
              <a:pathLst>
                <a:path h="10981150" w="10981912">
                  <a:moveTo>
                    <a:pt x="9374187" y="1607249"/>
                  </a:moveTo>
                  <a:cubicBezTo>
                    <a:pt x="11517820" y="3751644"/>
                    <a:pt x="11517820" y="7229031"/>
                    <a:pt x="9374187" y="9373426"/>
                  </a:cubicBezTo>
                  <a:cubicBezTo>
                    <a:pt x="7229031" y="11517059"/>
                    <a:pt x="3752405" y="11517059"/>
                    <a:pt x="1607248" y="9373426"/>
                  </a:cubicBezTo>
                  <a:cubicBezTo>
                    <a:pt x="-535750" y="7229031"/>
                    <a:pt x="-535750" y="3751644"/>
                    <a:pt x="1607248" y="1607249"/>
                  </a:cubicBezTo>
                  <a:cubicBezTo>
                    <a:pt x="3752405" y="-535749"/>
                    <a:pt x="7229031" y="-535749"/>
                    <a:pt x="9374187" y="1607249"/>
                  </a:cubicBezTo>
                  <a:close/>
                </a:path>
              </a:pathLst>
            </a:custGeom>
            <a:solidFill>
              <a:srgbClr val="0F13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77753" y="1784471"/>
            <a:ext cx="2745343" cy="2745343"/>
            <a:chOff x="0" y="0"/>
            <a:chExt cx="3660458" cy="3660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521" cy="3660521"/>
            </a:xfrm>
            <a:custGeom>
              <a:avLst/>
              <a:gdLst/>
              <a:ahLst/>
              <a:cxnLst/>
              <a:rect r="r" b="b" t="t" l="l"/>
              <a:pathLst>
                <a:path h="3660521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3660521"/>
                  </a:lnTo>
                  <a:lnTo>
                    <a:pt x="0" y="3660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31306" y="4849349"/>
            <a:ext cx="15239324" cy="181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2970"/>
              </a:lnSpc>
            </a:pPr>
            <a:r>
              <a:rPr lang="en-US" b="true" sz="10808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RoadSoS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1306" y="6633829"/>
            <a:ext cx="15239324" cy="100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Ultimate Offline-First Emergency Network</a:t>
            </a:r>
          </a:p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94A3B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EMPOWERING ACCIDENT VICTIMS &amp; BYSTANDERS DURING THE GOLDEN HOUR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47225" y="8099420"/>
            <a:ext cx="699354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  <a:spcBef>
                <a:spcPct val="0"/>
              </a:spcBef>
            </a:pPr>
            <a:r>
              <a:rPr lang="en-US" b="true" sz="1651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NATIONAL ROAD SAFETY HACKATHON 2026 | TEAM  LifeLane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137" y="549069"/>
            <a:ext cx="2471347" cy="480974"/>
            <a:chOff x="0" y="0"/>
            <a:chExt cx="3295129" cy="641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5142" cy="641223"/>
            </a:xfrm>
            <a:custGeom>
              <a:avLst/>
              <a:gdLst/>
              <a:ahLst/>
              <a:cxnLst/>
              <a:rect r="r" b="b" t="t" l="l"/>
              <a:pathLst>
                <a:path h="641223" w="3295142">
                  <a:moveTo>
                    <a:pt x="3187827" y="0"/>
                  </a:moveTo>
                  <a:cubicBezTo>
                    <a:pt x="3259201" y="0"/>
                    <a:pt x="3295142" y="35306"/>
                    <a:pt x="3295142" y="106680"/>
                  </a:cubicBezTo>
                  <a:lnTo>
                    <a:pt x="3295142" y="533908"/>
                  </a:lnTo>
                  <a:cubicBezTo>
                    <a:pt x="3295142" y="605282"/>
                    <a:pt x="3259074" y="641223"/>
                    <a:pt x="3187827" y="641223"/>
                  </a:cubicBezTo>
                  <a:lnTo>
                    <a:pt x="106680" y="641223"/>
                  </a:lnTo>
                  <a:cubicBezTo>
                    <a:pt x="35306" y="641350"/>
                    <a:pt x="0" y="605282"/>
                    <a:pt x="0" y="533908"/>
                  </a:cubicBezTo>
                  <a:lnTo>
                    <a:pt x="0" y="106680"/>
                  </a:lnTo>
                  <a:cubicBezTo>
                    <a:pt x="0" y="35306"/>
                    <a:pt x="35306" y="0"/>
                    <a:pt x="106680" y="0"/>
                  </a:cubicBezTo>
                  <a:lnTo>
                    <a:pt x="3187827" y="0"/>
                  </a:lnTo>
                  <a:close/>
                </a:path>
              </a:pathLst>
            </a:custGeom>
            <a:solidFill>
              <a:srgbClr val="EF434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0008" y="607781"/>
            <a:ext cx="2106530" cy="35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6776" y="1133608"/>
            <a:ext cx="15742996" cy="8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Golden Hour Delays Cost Lives on Highways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2127647"/>
            <a:ext cx="16060807" cy="41615"/>
            <a:chOff x="0" y="0"/>
            <a:chExt cx="21414410" cy="554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14360" cy="55499"/>
            </a:xfrm>
            <a:custGeom>
              <a:avLst/>
              <a:gdLst/>
              <a:ahLst/>
              <a:cxnLst/>
              <a:rect r="r" b="b" t="t" l="l"/>
              <a:pathLst>
                <a:path h="55499" w="21414360">
                  <a:moveTo>
                    <a:pt x="0" y="0"/>
                  </a:moveTo>
                  <a:lnTo>
                    <a:pt x="21414360" y="0"/>
                  </a:lnTo>
                  <a:lnTo>
                    <a:pt x="21414360" y="55499"/>
                  </a:lnTo>
                  <a:lnTo>
                    <a:pt x="0" y="55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3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3061443"/>
            <a:ext cx="7393332" cy="531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9"/>
              </a:lnSpc>
            </a:pPr>
            <a:r>
              <a:rPr lang="en-US" sz="3858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Highway emergency response rates are critical. Survival rates drop by 60% for every 10-minute delay during the 'Golden Hour' (first 60 mins):</a:t>
            </a:r>
          </a:p>
          <a:p>
            <a:pPr algn="l">
              <a:lnSpc>
                <a:spcPts val="4629"/>
              </a:lnSpc>
            </a:pPr>
          </a:p>
          <a:p>
            <a:pPr algn="l">
              <a:lnSpc>
                <a:spcPts val="2946"/>
              </a:lnSpc>
            </a:pPr>
            <a:r>
              <a:rPr lang="en-US" sz="2455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Traditional calling applications, medical guidance databases, and maps depend heavily on stable high-speed cellular networks. On critical highway segments, this reliance introduces single-points-of-failure.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045321" y="2731027"/>
            <a:ext cx="8127949" cy="2911792"/>
          </a:xfrm>
          <a:custGeom>
            <a:avLst/>
            <a:gdLst/>
            <a:ahLst/>
            <a:cxnLst/>
            <a:rect r="r" b="b" t="t" l="l"/>
            <a:pathLst>
              <a:path h="2911792" w="8127949">
                <a:moveTo>
                  <a:pt x="0" y="0"/>
                </a:moveTo>
                <a:lnTo>
                  <a:pt x="8127949" y="0"/>
                </a:lnTo>
                <a:lnTo>
                  <a:pt x="8127949" y="2911793"/>
                </a:lnTo>
                <a:lnTo>
                  <a:pt x="0" y="2911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23341" y="3189871"/>
            <a:ext cx="7371356" cy="1984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3355" b="true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📶 Cellular Dead Zones (OSM Data)</a:t>
            </a:r>
          </a:p>
          <a:p>
            <a:pPr algn="l">
              <a:lnSpc>
                <a:spcPts val="2907"/>
              </a:lnSpc>
            </a:pPr>
            <a:r>
              <a:rPr lang="en-US" sz="2423" b="true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</a:t>
            </a:r>
            <a:r>
              <a:rPr lang="en-US" sz="2423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ver 40% of national highway corridors pass through cellular coverage gaps or dead zones. Standard API-based apps (like Google Maps or Uber) stall immediately with zero bars of signal.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045321" y="6204795"/>
            <a:ext cx="8127949" cy="2911792"/>
          </a:xfrm>
          <a:custGeom>
            <a:avLst/>
            <a:gdLst/>
            <a:ahLst/>
            <a:cxnLst/>
            <a:rect r="r" b="b" t="t" l="l"/>
            <a:pathLst>
              <a:path h="2911792" w="8127949">
                <a:moveTo>
                  <a:pt x="0" y="0"/>
                </a:moveTo>
                <a:lnTo>
                  <a:pt x="8127949" y="0"/>
                </a:lnTo>
                <a:lnTo>
                  <a:pt x="8127949" y="2911792"/>
                </a:lnTo>
                <a:lnTo>
                  <a:pt x="0" y="2911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76255" y="6661995"/>
            <a:ext cx="7623517" cy="194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3294" b="true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🧠 Victim Trauma &amp; Bystander Panic</a:t>
            </a:r>
          </a:p>
          <a:p>
            <a:pPr algn="l">
              <a:lnSpc>
                <a:spcPts val="2855"/>
              </a:lnSpc>
            </a:pPr>
            <a:r>
              <a:rPr lang="en-US" sz="2379" b="true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</a:t>
            </a:r>
            <a:r>
              <a:rPr lang="en-US" sz="2379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ictims suffer physical shock, limiting phone interaction. Bystanders, driven by panic, fail to communicate GPS coordinate metrics or recall regional emergency helpline directories.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137" y="549069"/>
            <a:ext cx="2471347" cy="480974"/>
            <a:chOff x="0" y="0"/>
            <a:chExt cx="3295129" cy="641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5142" cy="641223"/>
            </a:xfrm>
            <a:custGeom>
              <a:avLst/>
              <a:gdLst/>
              <a:ahLst/>
              <a:cxnLst/>
              <a:rect r="r" b="b" t="t" l="l"/>
              <a:pathLst>
                <a:path h="641223" w="3295142">
                  <a:moveTo>
                    <a:pt x="3187827" y="0"/>
                  </a:moveTo>
                  <a:cubicBezTo>
                    <a:pt x="3259201" y="0"/>
                    <a:pt x="3295142" y="35306"/>
                    <a:pt x="3295142" y="106680"/>
                  </a:cubicBezTo>
                  <a:lnTo>
                    <a:pt x="3295142" y="533908"/>
                  </a:lnTo>
                  <a:cubicBezTo>
                    <a:pt x="3295142" y="605282"/>
                    <a:pt x="3259074" y="641223"/>
                    <a:pt x="3187827" y="641223"/>
                  </a:cubicBezTo>
                  <a:lnTo>
                    <a:pt x="106680" y="641223"/>
                  </a:lnTo>
                  <a:cubicBezTo>
                    <a:pt x="35306" y="641350"/>
                    <a:pt x="0" y="605282"/>
                    <a:pt x="0" y="533908"/>
                  </a:cubicBezTo>
                  <a:lnTo>
                    <a:pt x="0" y="106680"/>
                  </a:lnTo>
                  <a:cubicBezTo>
                    <a:pt x="0" y="35306"/>
                    <a:pt x="35306" y="0"/>
                    <a:pt x="106680" y="0"/>
                  </a:cubicBezTo>
                  <a:lnTo>
                    <a:pt x="3187827" y="0"/>
                  </a:lnTo>
                  <a:close/>
                </a:path>
              </a:pathLst>
            </a:custGeom>
            <a:solidFill>
              <a:srgbClr val="0FB98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37" y="675761"/>
            <a:ext cx="2106530" cy="35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OUR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6776" y="1133608"/>
            <a:ext cx="15742996" cy="8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Autonomous, Offline-First Rescue Ecosystem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2127647"/>
            <a:ext cx="16060807" cy="41615"/>
            <a:chOff x="0" y="0"/>
            <a:chExt cx="21414410" cy="554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14360" cy="55499"/>
            </a:xfrm>
            <a:custGeom>
              <a:avLst/>
              <a:gdLst/>
              <a:ahLst/>
              <a:cxnLst/>
              <a:rect r="r" b="b" t="t" l="l"/>
              <a:pathLst>
                <a:path h="55499" w="21414360">
                  <a:moveTo>
                    <a:pt x="0" y="0"/>
                  </a:moveTo>
                  <a:lnTo>
                    <a:pt x="21414360" y="0"/>
                  </a:lnTo>
                  <a:lnTo>
                    <a:pt x="21414360" y="55499"/>
                  </a:lnTo>
                  <a:lnTo>
                    <a:pt x="0" y="55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B98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4460" y="2736361"/>
            <a:ext cx="10888866" cy="578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4"/>
              </a:lnSpc>
            </a:pPr>
            <a:r>
              <a:rPr lang="en-US" sz="4128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RoadSoS is an offline-first PWA that bypasses cellular dependence to ensure continuous safety backup:</a:t>
            </a:r>
          </a:p>
          <a:p>
            <a:pPr algn="l">
              <a:lnSpc>
                <a:spcPts val="4211"/>
              </a:lnSpc>
            </a:pPr>
            <a:r>
              <a:rPr lang="en-US" sz="3509" b="true">
                <a:solidFill>
                  <a:srgbClr val="0FB98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🌐 IndexedDB Spatial Caching</a:t>
            </a:r>
          </a:p>
          <a:p>
            <a:pPr algn="l">
              <a:lnSpc>
                <a:spcPts val="3220"/>
              </a:lnSpc>
            </a:pPr>
            <a:r>
              <a:rPr lang="en-US" sz="2683" b="true">
                <a:solidFill>
                  <a:srgbClr val="0FB98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U</a:t>
            </a:r>
            <a:r>
              <a:rPr lang="en-US" sz="2683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ses Dexie.js to store over 1,500+ regional hospital coordinates, pharmacy locations, and local police helpline directories on client storage. Geolocation signals map directions offline.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4211"/>
              </a:lnSpc>
            </a:pPr>
            <a:r>
              <a:rPr lang="en-US" sz="3509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📱</a:t>
            </a:r>
            <a:r>
              <a:rPr lang="en-US" sz="3509" b="true">
                <a:solidFill>
                  <a:srgbClr val="0FB98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Zero Installation Footprint</a:t>
            </a:r>
          </a:p>
          <a:p>
            <a:pPr algn="l">
              <a:lnSpc>
                <a:spcPts val="3220"/>
              </a:lnSpc>
            </a:pPr>
            <a:r>
              <a:rPr lang="en-US" sz="2683" b="true">
                <a:solidFill>
                  <a:srgbClr val="0FB98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</a:t>
            </a:r>
            <a:r>
              <a:rPr lang="en-US" sz="2683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ogressive Web App (PWA) boot speeds complete in &lt;1.5 seconds. Instantly accessible via SMS web links or vehicle QR code stickers without app store downloads.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993868" y="2442597"/>
            <a:ext cx="4005905" cy="7654503"/>
          </a:xfrm>
          <a:custGeom>
            <a:avLst/>
            <a:gdLst/>
            <a:ahLst/>
            <a:cxnLst/>
            <a:rect r="r" b="b" t="t" l="l"/>
            <a:pathLst>
              <a:path h="7654503" w="4005905">
                <a:moveTo>
                  <a:pt x="0" y="0"/>
                </a:moveTo>
                <a:lnTo>
                  <a:pt x="4005904" y="0"/>
                </a:lnTo>
                <a:lnTo>
                  <a:pt x="4005904" y="7654504"/>
                </a:lnTo>
                <a:lnTo>
                  <a:pt x="0" y="765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584749" y="2635644"/>
            <a:ext cx="824141" cy="110242"/>
            <a:chOff x="0" y="0"/>
            <a:chExt cx="1098855" cy="14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931" cy="147066"/>
            </a:xfrm>
            <a:custGeom>
              <a:avLst/>
              <a:gdLst/>
              <a:ahLst/>
              <a:cxnLst/>
              <a:rect r="r" b="b" t="t" l="l"/>
              <a:pathLst>
                <a:path h="147066" w="1098931">
                  <a:moveTo>
                    <a:pt x="1074420" y="0"/>
                  </a:moveTo>
                  <a:cubicBezTo>
                    <a:pt x="1090930" y="0"/>
                    <a:pt x="1098931" y="7874"/>
                    <a:pt x="1098931" y="23749"/>
                  </a:cubicBezTo>
                  <a:lnTo>
                    <a:pt x="1098931" y="122555"/>
                  </a:lnTo>
                  <a:cubicBezTo>
                    <a:pt x="1098931" y="139065"/>
                    <a:pt x="1091057" y="147066"/>
                    <a:pt x="1074420" y="147066"/>
                  </a:cubicBezTo>
                  <a:lnTo>
                    <a:pt x="23749" y="147066"/>
                  </a:lnTo>
                  <a:cubicBezTo>
                    <a:pt x="7874" y="146939"/>
                    <a:pt x="0" y="139065"/>
                    <a:pt x="0" y="122555"/>
                  </a:cubicBezTo>
                  <a:lnTo>
                    <a:pt x="0" y="23749"/>
                  </a:lnTo>
                  <a:cubicBezTo>
                    <a:pt x="0" y="7874"/>
                    <a:pt x="7874" y="0"/>
                    <a:pt x="23749" y="0"/>
                  </a:cubicBezTo>
                  <a:lnTo>
                    <a:pt x="1074420" y="0"/>
                  </a:lnTo>
                  <a:close/>
                </a:path>
              </a:pathLst>
            </a:custGeom>
            <a:solidFill>
              <a:srgbClr val="27272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93650" y="9863885"/>
            <a:ext cx="1206341" cy="52292"/>
            <a:chOff x="0" y="0"/>
            <a:chExt cx="1464907" cy="6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945" cy="63457"/>
            </a:xfrm>
            <a:custGeom>
              <a:avLst/>
              <a:gdLst/>
              <a:ahLst/>
              <a:cxnLst/>
              <a:rect r="r" b="b" t="t" l="l"/>
              <a:pathLst>
                <a:path h="63457" w="1464945">
                  <a:moveTo>
                    <a:pt x="0" y="0"/>
                  </a:moveTo>
                  <a:lnTo>
                    <a:pt x="1464945" y="0"/>
                  </a:lnTo>
                  <a:lnTo>
                    <a:pt x="1464945" y="63457"/>
                  </a:lnTo>
                  <a:lnTo>
                    <a:pt x="0" y="634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777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32543" y="2860186"/>
            <a:ext cx="3528554" cy="6889399"/>
            <a:chOff x="0" y="0"/>
            <a:chExt cx="4632839" cy="90454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2877" cy="9045546"/>
            </a:xfrm>
            <a:custGeom>
              <a:avLst/>
              <a:gdLst/>
              <a:ahLst/>
              <a:cxnLst/>
              <a:rect r="r" b="b" t="t" l="l"/>
              <a:pathLst>
                <a:path h="9045546" w="4632877">
                  <a:moveTo>
                    <a:pt x="0" y="0"/>
                  </a:moveTo>
                  <a:lnTo>
                    <a:pt x="4632877" y="0"/>
                  </a:lnTo>
                  <a:lnTo>
                    <a:pt x="4632877" y="9045546"/>
                  </a:lnTo>
                  <a:lnTo>
                    <a:pt x="0" y="9045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27" r="0" b="-182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137" y="549069"/>
            <a:ext cx="2471347" cy="480974"/>
            <a:chOff x="0" y="0"/>
            <a:chExt cx="3295129" cy="641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5142" cy="641223"/>
            </a:xfrm>
            <a:custGeom>
              <a:avLst/>
              <a:gdLst/>
              <a:ahLst/>
              <a:cxnLst/>
              <a:rect r="r" b="b" t="t" l="l"/>
              <a:pathLst>
                <a:path h="641223" w="3295142">
                  <a:moveTo>
                    <a:pt x="3187827" y="0"/>
                  </a:moveTo>
                  <a:cubicBezTo>
                    <a:pt x="3259201" y="0"/>
                    <a:pt x="3295142" y="35306"/>
                    <a:pt x="3295142" y="106680"/>
                  </a:cubicBezTo>
                  <a:lnTo>
                    <a:pt x="3295142" y="533908"/>
                  </a:lnTo>
                  <a:cubicBezTo>
                    <a:pt x="3295142" y="605282"/>
                    <a:pt x="3259074" y="641223"/>
                    <a:pt x="3187827" y="641223"/>
                  </a:cubicBezTo>
                  <a:lnTo>
                    <a:pt x="106680" y="641223"/>
                  </a:lnTo>
                  <a:cubicBezTo>
                    <a:pt x="35306" y="641350"/>
                    <a:pt x="0" y="605282"/>
                    <a:pt x="0" y="533908"/>
                  </a:cubicBezTo>
                  <a:lnTo>
                    <a:pt x="0" y="106680"/>
                  </a:lnTo>
                  <a:cubicBezTo>
                    <a:pt x="0" y="35306"/>
                    <a:pt x="35306" y="0"/>
                    <a:pt x="106680" y="0"/>
                  </a:cubicBezTo>
                  <a:lnTo>
                    <a:pt x="3187827" y="0"/>
                  </a:lnTo>
                  <a:close/>
                </a:path>
              </a:pathLst>
            </a:custGeom>
            <a:solidFill>
              <a:srgbClr val="3A82F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0008" y="607781"/>
            <a:ext cx="2106530" cy="35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CORE ENGINE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6776" y="1133608"/>
            <a:ext cx="15742996" cy="8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Hardware SOS Blackbox &amp; AI Safety Copilot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2127647"/>
            <a:ext cx="16060807" cy="41615"/>
            <a:chOff x="0" y="0"/>
            <a:chExt cx="21414410" cy="554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14360" cy="55499"/>
            </a:xfrm>
            <a:custGeom>
              <a:avLst/>
              <a:gdLst/>
              <a:ahLst/>
              <a:cxnLst/>
              <a:rect r="r" b="b" t="t" l="l"/>
              <a:pathLst>
                <a:path h="55499" w="21414360">
                  <a:moveTo>
                    <a:pt x="0" y="0"/>
                  </a:moveTo>
                  <a:lnTo>
                    <a:pt x="21414360" y="0"/>
                  </a:lnTo>
                  <a:lnTo>
                    <a:pt x="21414360" y="55499"/>
                  </a:lnTo>
                  <a:lnTo>
                    <a:pt x="0" y="55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82F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56776" y="2496760"/>
            <a:ext cx="10062249" cy="145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3924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Dual-Shield Safety Protocols</a:t>
            </a:r>
          </a:p>
          <a:p>
            <a:pPr algn="l">
              <a:lnSpc>
                <a:spcPts val="2782"/>
              </a:lnSpc>
            </a:pPr>
            <a:r>
              <a:rPr lang="en-US" sz="2318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Combines real-time proactive driver speed safety alerts with autonomous reactive triggers: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8137" y="4062461"/>
            <a:ext cx="5031124" cy="777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876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🔊 Audio Siren wave</a:t>
            </a:r>
          </a:p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</a:t>
            </a:r>
            <a:r>
              <a:rPr lang="en-US" sz="2301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enerates raw 440Hz sawtooth frequencies using Web Audio API to alert nearby rescuers in dark conditions.</a:t>
            </a:r>
          </a:p>
          <a:p>
            <a:pPr algn="l">
              <a:lnSpc>
                <a:spcPts val="3452"/>
              </a:lnSpc>
            </a:pPr>
            <a:r>
              <a:rPr lang="en-US" sz="2876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🎙</a:t>
            </a:r>
            <a:r>
              <a:rPr lang="en-US" sz="2876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️ Forensic Recorder</a:t>
            </a:r>
          </a:p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Lo</a:t>
            </a:r>
            <a:r>
              <a:rPr lang="en-US" sz="2301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cal MediaRecorder saves 15 seconds of accident audio logs directly to browser indexed storage.</a:t>
            </a:r>
          </a:p>
          <a:p>
            <a:pPr algn="l">
              <a:lnSpc>
                <a:spcPts val="3452"/>
              </a:lnSpc>
            </a:pPr>
            <a:r>
              <a:rPr lang="en-US" sz="2876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📳 </a:t>
            </a:r>
            <a:r>
              <a:rPr lang="en-US" sz="2876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Impact Shake Detect</a:t>
            </a:r>
          </a:p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Use</a:t>
            </a:r>
            <a:r>
              <a:rPr lang="en-US" sz="2301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s device accelerometer filters to detect structural G-force and auto-dial 112 emergency numbers.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49891" y="4062461"/>
            <a:ext cx="4869134" cy="752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⚡ GPS Speed Monitor</a:t>
            </a:r>
          </a:p>
          <a:p>
            <a:pPr algn="l">
              <a:lnSpc>
                <a:spcPts val="2672"/>
              </a:lnSpc>
            </a:pPr>
            <a:r>
              <a:rPr lang="en-US" sz="2227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Watches speed velocity via Geolocation API, flashing warning lights and alert buzzers to check limits.</a:t>
            </a:r>
          </a:p>
          <a:p>
            <a:pPr algn="l">
              <a:lnSpc>
                <a:spcPts val="3341"/>
              </a:lnSpc>
            </a:pPr>
            <a:r>
              <a:rPr lang="en-US" sz="2784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📝 Report Generator</a:t>
            </a:r>
          </a:p>
          <a:p>
            <a:pPr algn="l">
              <a:lnSpc>
                <a:spcPts val="2672"/>
              </a:lnSpc>
            </a:pPr>
            <a:r>
              <a:rPr lang="en-US" sz="2227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</a:t>
            </a:r>
            <a:r>
              <a:rPr lang="en-US" sz="2227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nstantly packs lat/lng coordinates, address descriptors, and audio links into text reports.</a:t>
            </a:r>
          </a:p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📍</a:t>
            </a:r>
            <a:r>
              <a:rPr lang="en-US" sz="2784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Hotspot Map Alerts</a:t>
            </a:r>
          </a:p>
          <a:p>
            <a:pPr algn="l">
              <a:lnSpc>
                <a:spcPts val="2672"/>
              </a:lnSpc>
            </a:pPr>
            <a:r>
              <a:rPr lang="en-US" sz="2227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</a:t>
            </a:r>
            <a:r>
              <a:rPr lang="en-US" sz="2227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e-loads accident-prone blackspot coordinates, warning driver upon zone entry offline.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819282" y="2283562"/>
            <a:ext cx="3738587" cy="7143712"/>
          </a:xfrm>
          <a:custGeom>
            <a:avLst/>
            <a:gdLst/>
            <a:ahLst/>
            <a:cxnLst/>
            <a:rect r="r" b="b" t="t" l="l"/>
            <a:pathLst>
              <a:path h="7143712" w="3738587">
                <a:moveTo>
                  <a:pt x="0" y="0"/>
                </a:moveTo>
                <a:lnTo>
                  <a:pt x="3738587" y="0"/>
                </a:lnTo>
                <a:lnTo>
                  <a:pt x="3738587" y="7143712"/>
                </a:lnTo>
                <a:lnTo>
                  <a:pt x="0" y="71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276505" y="2515810"/>
            <a:ext cx="824141" cy="110242"/>
            <a:chOff x="0" y="0"/>
            <a:chExt cx="1098855" cy="146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931" cy="147066"/>
            </a:xfrm>
            <a:custGeom>
              <a:avLst/>
              <a:gdLst/>
              <a:ahLst/>
              <a:cxnLst/>
              <a:rect r="r" b="b" t="t" l="l"/>
              <a:pathLst>
                <a:path h="147066" w="1098931">
                  <a:moveTo>
                    <a:pt x="1074420" y="0"/>
                  </a:moveTo>
                  <a:cubicBezTo>
                    <a:pt x="1090930" y="0"/>
                    <a:pt x="1098931" y="7874"/>
                    <a:pt x="1098931" y="23749"/>
                  </a:cubicBezTo>
                  <a:lnTo>
                    <a:pt x="1098931" y="122555"/>
                  </a:lnTo>
                  <a:cubicBezTo>
                    <a:pt x="1098931" y="139065"/>
                    <a:pt x="1091057" y="147066"/>
                    <a:pt x="1074420" y="147066"/>
                  </a:cubicBezTo>
                  <a:lnTo>
                    <a:pt x="23749" y="147066"/>
                  </a:lnTo>
                  <a:cubicBezTo>
                    <a:pt x="7874" y="146939"/>
                    <a:pt x="0" y="139065"/>
                    <a:pt x="0" y="122555"/>
                  </a:cubicBezTo>
                  <a:lnTo>
                    <a:pt x="0" y="23749"/>
                  </a:lnTo>
                  <a:cubicBezTo>
                    <a:pt x="0" y="7874"/>
                    <a:pt x="7874" y="0"/>
                    <a:pt x="23749" y="0"/>
                  </a:cubicBezTo>
                  <a:lnTo>
                    <a:pt x="1074420" y="0"/>
                  </a:lnTo>
                  <a:close/>
                </a:path>
              </a:pathLst>
            </a:custGeom>
            <a:solidFill>
              <a:srgbClr val="27272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083139" y="9227626"/>
            <a:ext cx="1210872" cy="61348"/>
            <a:chOff x="0" y="0"/>
            <a:chExt cx="1464907" cy="742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945" cy="74168"/>
            </a:xfrm>
            <a:custGeom>
              <a:avLst/>
              <a:gdLst/>
              <a:ahLst/>
              <a:cxnLst/>
              <a:rect r="r" b="b" t="t" l="l"/>
              <a:pathLst>
                <a:path h="74168" w="1464945">
                  <a:moveTo>
                    <a:pt x="0" y="0"/>
                  </a:moveTo>
                  <a:lnTo>
                    <a:pt x="1464945" y="0"/>
                  </a:lnTo>
                  <a:lnTo>
                    <a:pt x="1464945" y="74168"/>
                  </a:lnTo>
                  <a:lnTo>
                    <a:pt x="0" y="74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777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938575" y="2771303"/>
            <a:ext cx="3500001" cy="6311073"/>
            <a:chOff x="0" y="0"/>
            <a:chExt cx="4466044" cy="80530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66082" cy="8053070"/>
            </a:xfrm>
            <a:custGeom>
              <a:avLst/>
              <a:gdLst/>
              <a:ahLst/>
              <a:cxnLst/>
              <a:rect r="r" b="b" t="t" l="l"/>
              <a:pathLst>
                <a:path h="8053070" w="4466082">
                  <a:moveTo>
                    <a:pt x="0" y="0"/>
                  </a:moveTo>
                  <a:lnTo>
                    <a:pt x="4466082" y="0"/>
                  </a:lnTo>
                  <a:lnTo>
                    <a:pt x="4466082" y="8053070"/>
                  </a:lnTo>
                  <a:lnTo>
                    <a:pt x="0" y="8053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118" r="0" b="-611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137" y="549069"/>
            <a:ext cx="2471347" cy="480974"/>
            <a:chOff x="0" y="0"/>
            <a:chExt cx="3295129" cy="641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5142" cy="641223"/>
            </a:xfrm>
            <a:custGeom>
              <a:avLst/>
              <a:gdLst/>
              <a:ahLst/>
              <a:cxnLst/>
              <a:rect r="r" b="b" t="t" l="l"/>
              <a:pathLst>
                <a:path h="641223" w="3295142">
                  <a:moveTo>
                    <a:pt x="3187827" y="0"/>
                  </a:moveTo>
                  <a:cubicBezTo>
                    <a:pt x="3259201" y="0"/>
                    <a:pt x="3295142" y="35306"/>
                    <a:pt x="3295142" y="106680"/>
                  </a:cubicBezTo>
                  <a:lnTo>
                    <a:pt x="3295142" y="533908"/>
                  </a:lnTo>
                  <a:cubicBezTo>
                    <a:pt x="3295142" y="605282"/>
                    <a:pt x="3259074" y="641223"/>
                    <a:pt x="3187827" y="641223"/>
                  </a:cubicBezTo>
                  <a:lnTo>
                    <a:pt x="106680" y="641223"/>
                  </a:lnTo>
                  <a:cubicBezTo>
                    <a:pt x="35306" y="641350"/>
                    <a:pt x="0" y="605282"/>
                    <a:pt x="0" y="533908"/>
                  </a:cubicBezTo>
                  <a:lnTo>
                    <a:pt x="0" y="106680"/>
                  </a:lnTo>
                  <a:cubicBezTo>
                    <a:pt x="0" y="35306"/>
                    <a:pt x="35306" y="0"/>
                    <a:pt x="106680" y="0"/>
                  </a:cubicBezTo>
                  <a:lnTo>
                    <a:pt x="3187827" y="0"/>
                  </a:lnTo>
                  <a:close/>
                </a:path>
              </a:pathLst>
            </a:custGeom>
            <a:solidFill>
              <a:srgbClr val="8B5B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8137" y="2127647"/>
            <a:ext cx="16060807" cy="41615"/>
            <a:chOff x="0" y="0"/>
            <a:chExt cx="21414410" cy="55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4360" cy="55499"/>
            </a:xfrm>
            <a:custGeom>
              <a:avLst/>
              <a:gdLst/>
              <a:ahLst/>
              <a:cxnLst/>
              <a:rect r="r" b="b" t="t" l="l"/>
              <a:pathLst>
                <a:path h="55499" w="21414360">
                  <a:moveTo>
                    <a:pt x="0" y="0"/>
                  </a:moveTo>
                  <a:lnTo>
                    <a:pt x="21414360" y="0"/>
                  </a:lnTo>
                  <a:lnTo>
                    <a:pt x="21414360" y="55499"/>
                  </a:lnTo>
                  <a:lnTo>
                    <a:pt x="0" y="55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5BF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971868"/>
            <a:ext cx="4841376" cy="6137209"/>
          </a:xfrm>
          <a:custGeom>
            <a:avLst/>
            <a:gdLst/>
            <a:ahLst/>
            <a:cxnLst/>
            <a:rect r="r" b="b" t="t" l="l"/>
            <a:pathLst>
              <a:path h="6137209" w="4841376">
                <a:moveTo>
                  <a:pt x="0" y="0"/>
                </a:moveTo>
                <a:lnTo>
                  <a:pt x="4841376" y="0"/>
                </a:lnTo>
                <a:lnTo>
                  <a:pt x="4841376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23312" y="2971868"/>
            <a:ext cx="4841376" cy="6137209"/>
          </a:xfrm>
          <a:custGeom>
            <a:avLst/>
            <a:gdLst/>
            <a:ahLst/>
            <a:cxnLst/>
            <a:rect r="r" b="b" t="t" l="l"/>
            <a:pathLst>
              <a:path h="6137209" w="4841376">
                <a:moveTo>
                  <a:pt x="0" y="0"/>
                </a:moveTo>
                <a:lnTo>
                  <a:pt x="4841376" y="0"/>
                </a:lnTo>
                <a:lnTo>
                  <a:pt x="4841376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17924" y="2971868"/>
            <a:ext cx="4841376" cy="6137209"/>
          </a:xfrm>
          <a:custGeom>
            <a:avLst/>
            <a:gdLst/>
            <a:ahLst/>
            <a:cxnLst/>
            <a:rect r="r" b="b" t="t" l="l"/>
            <a:pathLst>
              <a:path h="6137209" w="4841376">
                <a:moveTo>
                  <a:pt x="0" y="0"/>
                </a:moveTo>
                <a:lnTo>
                  <a:pt x="4841376" y="0"/>
                </a:lnTo>
                <a:lnTo>
                  <a:pt x="4841376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0008" y="607781"/>
            <a:ext cx="2106530" cy="35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TECHNICAL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6776" y="1133608"/>
            <a:ext cx="15742996" cy="8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Resilient System Architecture Layers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7922" y="3255112"/>
            <a:ext cx="504930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3"/>
              </a:lnSpc>
              <a:spcBef>
                <a:spcPct val="0"/>
              </a:spcBef>
            </a:pPr>
            <a:r>
              <a:rPr lang="en-US" b="true" sz="3677">
                <a:solidFill>
                  <a:srgbClr val="8B5B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1. Client 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07586" y="3255112"/>
            <a:ext cx="484137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3"/>
              </a:lnSpc>
              <a:spcBef>
                <a:spcPct val="0"/>
              </a:spcBef>
            </a:pPr>
            <a:r>
              <a:rPr lang="en-US" b="true" sz="3677" strike="noStrike" u="none">
                <a:solidFill>
                  <a:srgbClr val="0FB98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2. Offline Guard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17924" y="3255112"/>
            <a:ext cx="484137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3"/>
              </a:lnSpc>
              <a:spcBef>
                <a:spcPct val="0"/>
              </a:spcBef>
            </a:pPr>
            <a:r>
              <a:rPr lang="en-US" b="true" sz="3677" strike="noStrike" u="non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3. Integration APIs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8137" y="4400135"/>
            <a:ext cx="4590068" cy="114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React + Vite Framework: Single Page Application layout boots in milliseconds.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98137" y="5847873"/>
            <a:ext cx="4590068" cy="115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b="true" sz="1913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Tailwind CSS: Dark-mode interface optimized for outdoor high-glare and night emergency visibility.</a:t>
            </a:r>
          </a:p>
          <a:p>
            <a:pPr algn="ctr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98137" y="7257489"/>
            <a:ext cx="4590068" cy="86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Leaflet.js Mapping: Implements canvas-based offline tile render hooks.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707586" y="4400135"/>
            <a:ext cx="4841376" cy="8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PWA Service Worker: Caches main application shell and scripts via Workbox.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918699" y="5847873"/>
            <a:ext cx="4550946" cy="115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IndexedDB Database: Handles regional hospital listings, police caches, and map files local queries.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918699" y="7257489"/>
            <a:ext cx="4550946" cy="115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Local Rule-Engine: Chatbot runs on-device rule matching for first-aid without internet.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801663" y="4400135"/>
            <a:ext cx="4073899" cy="114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OpenStreetMap API: Fetches raw public spatial data for emergency services.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612438" y="5847873"/>
            <a:ext cx="4263124" cy="115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Claude LLM: Parses complex symptoms and multilingual questions when online.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317569" y="7245818"/>
            <a:ext cx="4941731" cy="114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77777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Hardware Sensor APIs: Binds Accelerometer, AudioContext, and Media Recording tools.</a:t>
            </a:r>
          </a:p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137" y="549069"/>
            <a:ext cx="2471347" cy="480974"/>
            <a:chOff x="0" y="0"/>
            <a:chExt cx="3295129" cy="641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5142" cy="641223"/>
            </a:xfrm>
            <a:custGeom>
              <a:avLst/>
              <a:gdLst/>
              <a:ahLst/>
              <a:cxnLst/>
              <a:rect r="r" b="b" t="t" l="l"/>
              <a:pathLst>
                <a:path h="641223" w="3295142">
                  <a:moveTo>
                    <a:pt x="3187827" y="0"/>
                  </a:moveTo>
                  <a:cubicBezTo>
                    <a:pt x="3259201" y="0"/>
                    <a:pt x="3295142" y="35306"/>
                    <a:pt x="3295142" y="106680"/>
                  </a:cubicBezTo>
                  <a:lnTo>
                    <a:pt x="3295142" y="533908"/>
                  </a:lnTo>
                  <a:cubicBezTo>
                    <a:pt x="3295142" y="605282"/>
                    <a:pt x="3259074" y="641223"/>
                    <a:pt x="3187827" y="641223"/>
                  </a:cubicBezTo>
                  <a:lnTo>
                    <a:pt x="106680" y="641223"/>
                  </a:lnTo>
                  <a:cubicBezTo>
                    <a:pt x="35306" y="641350"/>
                    <a:pt x="0" y="605282"/>
                    <a:pt x="0" y="533908"/>
                  </a:cubicBezTo>
                  <a:lnTo>
                    <a:pt x="0" y="106680"/>
                  </a:lnTo>
                  <a:cubicBezTo>
                    <a:pt x="0" y="35306"/>
                    <a:pt x="35306" y="0"/>
                    <a:pt x="106680" y="0"/>
                  </a:cubicBezTo>
                  <a:lnTo>
                    <a:pt x="3187827" y="0"/>
                  </a:lnTo>
                  <a:close/>
                </a:path>
              </a:pathLst>
            </a:custGeom>
            <a:solidFill>
              <a:srgbClr val="0FB98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0008" y="607781"/>
            <a:ext cx="2106530" cy="35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THE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6776" y="1133608"/>
            <a:ext cx="15742996" cy="8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Scalable, Zero Cost, Lifesaving Platform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2127647"/>
            <a:ext cx="16060807" cy="41615"/>
            <a:chOff x="0" y="0"/>
            <a:chExt cx="21414410" cy="554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14360" cy="55499"/>
            </a:xfrm>
            <a:custGeom>
              <a:avLst/>
              <a:gdLst/>
              <a:ahLst/>
              <a:cxnLst/>
              <a:rect r="r" b="b" t="t" l="l"/>
              <a:pathLst>
                <a:path h="55499" w="21414360">
                  <a:moveTo>
                    <a:pt x="0" y="0"/>
                  </a:moveTo>
                  <a:lnTo>
                    <a:pt x="21414360" y="0"/>
                  </a:lnTo>
                  <a:lnTo>
                    <a:pt x="21414360" y="55499"/>
                  </a:lnTo>
                  <a:lnTo>
                    <a:pt x="0" y="55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B98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83821" y="2731027"/>
            <a:ext cx="4970802" cy="6206204"/>
          </a:xfrm>
          <a:custGeom>
            <a:avLst/>
            <a:gdLst/>
            <a:ahLst/>
            <a:cxnLst/>
            <a:rect r="r" b="b" t="t" l="l"/>
            <a:pathLst>
              <a:path h="6206204" w="4970802">
                <a:moveTo>
                  <a:pt x="0" y="0"/>
                </a:moveTo>
                <a:lnTo>
                  <a:pt x="4970802" y="0"/>
                </a:lnTo>
                <a:lnTo>
                  <a:pt x="4970802" y="6206204"/>
                </a:lnTo>
                <a:lnTo>
                  <a:pt x="0" y="620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3273" y="2918089"/>
            <a:ext cx="5490686" cy="406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3"/>
              </a:lnSpc>
            </a:pPr>
            <a:r>
              <a:rPr lang="en-US" sz="10611" b="true">
                <a:solidFill>
                  <a:srgbClr val="0FB98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$0</a:t>
            </a:r>
          </a:p>
          <a:p>
            <a:pPr algn="l">
              <a:lnSpc>
                <a:spcPts val="12733"/>
              </a:lnSpc>
            </a:pPr>
          </a:p>
          <a:p>
            <a:pPr algn="l">
              <a:lnSpc>
                <a:spcPts val="3638"/>
              </a:lnSpc>
            </a:pPr>
          </a:p>
          <a:p>
            <a:pPr algn="l">
              <a:lnSpc>
                <a:spcPts val="295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74507" y="2731027"/>
            <a:ext cx="4970802" cy="6206204"/>
          </a:xfrm>
          <a:custGeom>
            <a:avLst/>
            <a:gdLst/>
            <a:ahLst/>
            <a:cxnLst/>
            <a:rect r="r" b="b" t="t" l="l"/>
            <a:pathLst>
              <a:path h="6206204" w="4970802">
                <a:moveTo>
                  <a:pt x="0" y="0"/>
                </a:moveTo>
                <a:lnTo>
                  <a:pt x="4970803" y="0"/>
                </a:lnTo>
                <a:lnTo>
                  <a:pt x="4970803" y="6206204"/>
                </a:lnTo>
                <a:lnTo>
                  <a:pt x="0" y="6206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46050" y="3169520"/>
            <a:ext cx="2937936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7"/>
              </a:lnSpc>
            </a:pPr>
            <a:r>
              <a:rPr lang="en-US" sz="8406" b="true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100%</a:t>
            </a:r>
          </a:p>
          <a:p>
            <a:pPr algn="l">
              <a:lnSpc>
                <a:spcPts val="2882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065194" y="2731027"/>
            <a:ext cx="4970802" cy="6206204"/>
          </a:xfrm>
          <a:custGeom>
            <a:avLst/>
            <a:gdLst/>
            <a:ahLst/>
            <a:cxnLst/>
            <a:rect r="r" b="b" t="t" l="l"/>
            <a:pathLst>
              <a:path h="6206204" w="4970802">
                <a:moveTo>
                  <a:pt x="0" y="0"/>
                </a:moveTo>
                <a:lnTo>
                  <a:pt x="4970802" y="0"/>
                </a:lnTo>
                <a:lnTo>
                  <a:pt x="4970802" y="6206204"/>
                </a:lnTo>
                <a:lnTo>
                  <a:pt x="0" y="6206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09125" y="3169520"/>
            <a:ext cx="3653549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7"/>
              </a:lnSpc>
            </a:pPr>
            <a:r>
              <a:rPr lang="en-US" sz="8406" b="true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Instant</a:t>
            </a:r>
          </a:p>
          <a:p>
            <a:pPr algn="l">
              <a:lnSpc>
                <a:spcPts val="288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93624" y="4943999"/>
            <a:ext cx="3785827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937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Map API Licensing Fees</a:t>
            </a:r>
          </a:p>
          <a:p>
            <a:pPr algn="ctr">
              <a:lnSpc>
                <a:spcPts val="2155"/>
              </a:lnSpc>
            </a:pPr>
            <a:r>
              <a:rPr lang="en-US" sz="1796" b="true">
                <a:solidFill>
                  <a:srgbClr val="94A3B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Commercial maps cost $7 per 1,000 lookups. RoadSoS leverages free OpenStreetMap datasets and local cache indexing. This design eliminates runtime overheads, allowing global scaling at zero platform fees.</a:t>
            </a:r>
          </a:p>
          <a:p>
            <a:pPr algn="ctr">
              <a:lnSpc>
                <a:spcPts val="215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750140" y="4943999"/>
            <a:ext cx="4619536" cy="302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sz="3432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Universal Location Coding</a:t>
            </a:r>
          </a:p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b="true" sz="1920">
                <a:solidFill>
                  <a:srgbClr val="94A3B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OSM maps c</a:t>
            </a:r>
            <a:r>
              <a:rPr lang="en-US" b="true" sz="1920">
                <a:solidFill>
                  <a:srgbClr val="94A3B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over all roads, toll plazas, and emergency centers globally. The app matches coordinate boundaries locally in any country (e.g. India, EU, US), updating emergency contact numbers dynamically.</a:t>
            </a:r>
          </a:p>
          <a:p>
            <a:pPr algn="ctr">
              <a:lnSpc>
                <a:spcPts val="230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375685" y="4943999"/>
            <a:ext cx="4473012" cy="302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5"/>
              </a:lnSpc>
            </a:pPr>
            <a:r>
              <a:rPr lang="en-US" sz="337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Offline Zero-Bar Access</a:t>
            </a:r>
          </a:p>
          <a:p>
            <a:pPr algn="ctr">
              <a:lnSpc>
                <a:spcPts val="2269"/>
              </a:lnSpc>
              <a:spcBef>
                <a:spcPct val="0"/>
              </a:spcBef>
            </a:pPr>
            <a:r>
              <a:rPr lang="en-US" b="true" sz="189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</a:t>
            </a:r>
            <a:r>
              <a:rPr lang="en-US" b="true" sz="1891">
                <a:solidFill>
                  <a:srgbClr val="94A3B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 trauma situations, installation delays lead to negative </a:t>
            </a:r>
            <a:r>
              <a:rPr lang="en-US" b="true" sz="1891">
                <a:solidFill>
                  <a:srgbClr val="94A3B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outcomes. PWA formats boot directly in mobile browsers. Essential siren systems, GPS alerts, and first-aid run with zero network active.</a:t>
            </a:r>
          </a:p>
          <a:p>
            <a:pPr algn="ctr">
              <a:lnSpc>
                <a:spcPts val="226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18094" y="2054985"/>
            <a:ext cx="8236572" cy="6177029"/>
            <a:chOff x="0" y="0"/>
            <a:chExt cx="10982096" cy="8236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8" y="381"/>
              <a:ext cx="10981912" cy="8235760"/>
            </a:xfrm>
            <a:custGeom>
              <a:avLst/>
              <a:gdLst/>
              <a:ahLst/>
              <a:cxnLst/>
              <a:rect r="r" b="b" t="t" l="l"/>
              <a:pathLst>
                <a:path h="8235760" w="10981912">
                  <a:moveTo>
                    <a:pt x="9374187" y="1205103"/>
                  </a:moveTo>
                  <a:cubicBezTo>
                    <a:pt x="11517820" y="2813431"/>
                    <a:pt x="11517820" y="5421884"/>
                    <a:pt x="9374187" y="7030085"/>
                  </a:cubicBezTo>
                  <a:cubicBezTo>
                    <a:pt x="7229031" y="8637651"/>
                    <a:pt x="3752405" y="8637651"/>
                    <a:pt x="1607248" y="7030085"/>
                  </a:cubicBezTo>
                  <a:cubicBezTo>
                    <a:pt x="-535750" y="5421757"/>
                    <a:pt x="-535750" y="2813304"/>
                    <a:pt x="1607248" y="1205103"/>
                  </a:cubicBezTo>
                  <a:cubicBezTo>
                    <a:pt x="3752405" y="-401701"/>
                    <a:pt x="7229030" y="-401701"/>
                    <a:pt x="9374187" y="1205103"/>
                  </a:cubicBezTo>
                  <a:close/>
                </a:path>
              </a:pathLst>
            </a:custGeom>
            <a:solidFill>
              <a:srgbClr val="0F132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18094" y="4927302"/>
            <a:ext cx="8265214" cy="3049067"/>
          </a:xfrm>
          <a:custGeom>
            <a:avLst/>
            <a:gdLst/>
            <a:ahLst/>
            <a:cxnLst/>
            <a:rect r="r" b="b" t="t" l="l"/>
            <a:pathLst>
              <a:path h="3049067" w="8265214">
                <a:moveTo>
                  <a:pt x="0" y="0"/>
                </a:moveTo>
                <a:lnTo>
                  <a:pt x="8265214" y="0"/>
                </a:lnTo>
                <a:lnTo>
                  <a:pt x="8265214" y="3049066"/>
                </a:lnTo>
                <a:lnTo>
                  <a:pt x="0" y="304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80366" y="3071020"/>
            <a:ext cx="1136193" cy="994169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EF434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1275"/>
              <a:ext cx="660400" cy="5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9011" y="2816146"/>
            <a:ext cx="15239324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9"/>
              </a:lnSpc>
            </a:pPr>
            <a:r>
              <a:rPr lang="en-US" b="true" sz="9607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Thanks</a:t>
            </a:r>
          </a:p>
          <a:p>
            <a:pPr algn="ctr" rtl="true">
              <a:lnSpc>
                <a:spcPts val="3602"/>
              </a:lnSpc>
            </a:pPr>
            <a:r>
              <a:rPr lang="en-US" sz="3002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Let's make our highways safer, together</a:t>
            </a:r>
            <a:r>
              <a:rPr lang="ar-EG" sz="3002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  <a:rtl val="true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34511" y="5050483"/>
            <a:ext cx="8032380" cy="279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25"/>
              </a:lnSpc>
            </a:pPr>
            <a:r>
              <a:rPr lang="ar-EG" b="true" sz="4187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  <a:rtl val="true"/>
              </a:rPr>
              <a:t>📱 </a:t>
            </a:r>
            <a:r>
              <a:rPr lang="en-US" b="true" sz="4187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Try RoadSoS Live Demo</a:t>
            </a:r>
          </a:p>
          <a:p>
            <a:pPr algn="ctr" rtl="true">
              <a:lnSpc>
                <a:spcPts val="3266"/>
              </a:lnSpc>
            </a:pPr>
            <a:r>
              <a:rPr lang="en-US" b="true" sz="2722">
                <a:solidFill>
                  <a:srgbClr val="EF434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</a:t>
            </a:r>
            <a:r>
              <a:rPr lang="en-US" sz="2722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nstant loading, offline cached PWA ready for tests</a:t>
            </a:r>
            <a:r>
              <a:rPr lang="ar-EG" sz="2722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  <a:rtl val="true"/>
              </a:rPr>
              <a:t>.</a:t>
            </a:r>
          </a:p>
          <a:p>
            <a:pPr algn="ctr" rtl="true">
              <a:lnSpc>
                <a:spcPts val="3517"/>
              </a:lnSpc>
            </a:pPr>
            <a:r>
              <a:rPr lang="en-US" sz="2931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US" b="true" sz="293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IVE REPOSITORY: </a:t>
            </a:r>
            <a:r>
              <a:rPr lang="en-US" b="true" sz="2931">
                <a:solidFill>
                  <a:srgbClr val="3A82F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https://github.com/naithanianuj68-glitch/RoadSos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DAHLIqFwG2w</dc:identifier>
  <dcterms:modified xsi:type="dcterms:W3CDTF">2011-08-01T06:04:30Z</dcterms:modified>
  <cp:revision>1</cp:revision>
  <dc:title>RoadSoS is an offline-first PWA that bypasses cellular dependence to ensure continuous safety backup: 🌐 IndexedDB Spatial Caching Uses Dexie.js to store over 1,500+ regional hospital coordinates, pharmacy locations, and local police helpline directories</dc:title>
</cp:coreProperties>
</file>